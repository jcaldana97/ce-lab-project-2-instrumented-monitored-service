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92" r:id="rId5"/>
    <p:sldId id="299" r:id="rId6"/>
    <p:sldId id="297" r:id="rId7"/>
    <p:sldId id="261" r:id="rId8"/>
    <p:sldId id="301" r:id="rId9"/>
    <p:sldId id="312" r:id="rId10"/>
    <p:sldId id="310" r:id="rId11"/>
    <p:sldId id="313" r:id="rId12"/>
    <p:sldId id="308" r:id="rId13"/>
    <p:sldId id="309" r:id="rId14"/>
    <p:sldId id="311" r:id="rId15"/>
    <p:sldId id="28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839" autoAdjust="0"/>
  </p:normalViewPr>
  <p:slideViewPr>
    <p:cSldViewPr snapToGrid="0" showGuides="1">
      <p:cViewPr varScale="1">
        <p:scale>
          <a:sx n="117" d="100"/>
          <a:sy n="117" d="100"/>
        </p:scale>
        <p:origin x="120" y="45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53" r:id="rId9"/>
    <p:sldLayoutId id="2147483663" r:id="rId10"/>
    <p:sldLayoutId id="214748366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dirty="0"/>
              <a:t>Instrumented &amp; Monitored Cloud Service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&amp; Instrumentation</a:t>
            </a:r>
          </a:p>
          <a:p>
            <a:r>
              <a:rPr lang="en-US" dirty="0"/>
              <a:t>Alerting system</a:t>
            </a:r>
          </a:p>
          <a:p>
            <a:r>
              <a:rPr lang="en-US" dirty="0"/>
              <a:t>Live Demo</a:t>
            </a:r>
          </a:p>
          <a:p>
            <a:r>
              <a:rPr lang="en-US" dirty="0"/>
              <a:t>Incidence Response</a:t>
            </a:r>
          </a:p>
          <a:p>
            <a:r>
              <a:rPr lang="en-US" dirty="0"/>
              <a:t>Learnings &amp; Improvements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Architecture &amp; Instrumentation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Instrumented &amp; Monitored Cloud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Architecture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21740B-EFB3-51C4-6453-7625939F6B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98498" y="2368632"/>
            <a:ext cx="7504767" cy="3719321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EBDA2C-59D8-AF21-6828-2344A63AB14B}"/>
              </a:ext>
            </a:extLst>
          </p:cNvPr>
          <p:cNvSpPr txBox="1">
            <a:spLocks/>
          </p:cNvSpPr>
          <p:nvPr/>
        </p:nvSpPr>
        <p:spPr>
          <a:xfrm>
            <a:off x="1066800" y="2922179"/>
            <a:ext cx="2962590" cy="338328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Web Server</a:t>
            </a:r>
          </a:p>
          <a:p>
            <a:pPr lvl="1"/>
            <a:r>
              <a:rPr lang="en-US" dirty="0"/>
              <a:t>Logger Factory</a:t>
            </a:r>
          </a:p>
          <a:p>
            <a:pPr lvl="1"/>
            <a:r>
              <a:rPr lang="en-US" dirty="0"/>
              <a:t>application.log</a:t>
            </a:r>
          </a:p>
          <a:p>
            <a:r>
              <a:rPr lang="en-US" dirty="0"/>
              <a:t>Application Load Balancer</a:t>
            </a:r>
          </a:p>
          <a:p>
            <a:r>
              <a:rPr lang="en-US" dirty="0"/>
              <a:t>CloudWatch Agent</a:t>
            </a:r>
          </a:p>
          <a:p>
            <a:r>
              <a:rPr lang="en-US" dirty="0"/>
              <a:t>CloudWatch Alerts</a:t>
            </a:r>
          </a:p>
          <a:p>
            <a:r>
              <a:rPr lang="en-US" dirty="0"/>
              <a:t>CloudWatch Dashboard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428-5DA9-9D27-C7B1-DAAE5CC01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6C88-2852-9248-FA45-F4B0884A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Instrumentation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CF15-AA86-6BD2-3A83-8ED4DA24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A73A249-A4AD-4883-6269-6F4A8FB473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5624927"/>
              </p:ext>
            </p:extLst>
          </p:nvPr>
        </p:nvGraphicFramePr>
        <p:xfrm>
          <a:off x="5571923" y="2244598"/>
          <a:ext cx="5622246" cy="18542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811123">
                  <a:extLst>
                    <a:ext uri="{9D8B030D-6E8A-4147-A177-3AD203B41FA5}">
                      <a16:colId xmlns:a16="http://schemas.microsoft.com/office/drawing/2014/main" val="1392984329"/>
                    </a:ext>
                  </a:extLst>
                </a:gridCol>
                <a:gridCol w="2811123">
                  <a:extLst>
                    <a:ext uri="{9D8B030D-6E8A-4147-A177-3AD203B41FA5}">
                      <a16:colId xmlns:a16="http://schemas.microsoft.com/office/drawing/2014/main" val="3174544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Technical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776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Memory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57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Disk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6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Application Error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Abandoned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165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Abandonment Cart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315847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A77B788-BAEA-87CA-38FA-919CCC6089FF}"/>
              </a:ext>
            </a:extLst>
          </p:cNvPr>
          <p:cNvSpPr txBox="1">
            <a:spLocks/>
          </p:cNvSpPr>
          <p:nvPr/>
        </p:nvSpPr>
        <p:spPr>
          <a:xfrm>
            <a:off x="914400" y="2922179"/>
            <a:ext cx="2962590" cy="16090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Correlation ID</a:t>
            </a:r>
          </a:p>
          <a:p>
            <a:r>
              <a:rPr lang="en-US" dirty="0"/>
              <a:t>Cloud Watch Agent</a:t>
            </a:r>
          </a:p>
          <a:p>
            <a:r>
              <a:rPr lang="en-US" dirty="0"/>
              <a:t>Filter Logs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11A3FF5-A9F4-71C1-C207-92A14AB90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083" y="4547384"/>
            <a:ext cx="3248478" cy="1657581"/>
          </a:xfrm>
          <a:prstGeom prst="rect">
            <a:avLst/>
          </a:prstGeom>
        </p:spPr>
      </p:pic>
      <p:graphicFrame>
        <p:nvGraphicFramePr>
          <p:cNvPr id="3" name="Content Placeholder 7">
            <a:extLst>
              <a:ext uri="{FF2B5EF4-FFF2-40B4-BE49-F238E27FC236}">
                <a16:creationId xmlns:a16="http://schemas.microsoft.com/office/drawing/2014/main" id="{C4D0491A-8F76-9186-397D-3F48099BB3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9984056"/>
              </p:ext>
            </p:extLst>
          </p:nvPr>
        </p:nvGraphicFramePr>
        <p:xfrm>
          <a:off x="5571923" y="4363720"/>
          <a:ext cx="5622246" cy="18542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811123">
                  <a:extLst>
                    <a:ext uri="{9D8B030D-6E8A-4147-A177-3AD203B41FA5}">
                      <a16:colId xmlns:a16="http://schemas.microsoft.com/office/drawing/2014/main" val="1392984329"/>
                    </a:ext>
                  </a:extLst>
                </a:gridCol>
                <a:gridCol w="2811123">
                  <a:extLst>
                    <a:ext uri="{9D8B030D-6E8A-4147-A177-3AD203B41FA5}">
                      <a16:colId xmlns:a16="http://schemas.microsoft.com/office/drawing/2014/main" val="3174544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EC2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ALB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776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 Response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57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In/Out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Request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6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Healthy Targets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165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 Code Responses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315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128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37C64-44C9-C023-2074-B0B607C4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6FAA3-D6EA-220F-B853-E49ABA44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Alerting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0514-EFFD-F91C-FFB5-F26D3B9DE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6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908DCDC-9280-08ED-8558-454E1CA3F62A}"/>
              </a:ext>
            </a:extLst>
          </p:cNvPr>
          <p:cNvSpPr txBox="1">
            <a:spLocks/>
          </p:cNvSpPr>
          <p:nvPr/>
        </p:nvSpPr>
        <p:spPr>
          <a:xfrm>
            <a:off x="914399" y="2922179"/>
            <a:ext cx="3282043" cy="366086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62500" lnSpcReduction="20000"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CPU Usage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Memory Utilization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Disk Space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Application Error Rate</a:t>
            </a:r>
          </a:p>
          <a:p>
            <a:r>
              <a:rPr lang="en-US" dirty="0"/>
              <a:t>Application Load Balancer Response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F140B4-A7FF-8AC1-CAA3-127A169DA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963" y="2958348"/>
            <a:ext cx="7023798" cy="291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17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314A-F35B-171C-D207-E58577A13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3FD3-BBFE-B646-CE7C-B36FC11AF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073729"/>
            <a:ext cx="8539843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Incidence Summary &amp; 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F898E-4D1D-6FCB-FD1E-5E8D6746E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8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5C9B19C-E253-01C2-0C94-8632EC6A4538}"/>
              </a:ext>
            </a:extLst>
          </p:cNvPr>
          <p:cNvSpPr txBox="1">
            <a:spLocks/>
          </p:cNvSpPr>
          <p:nvPr/>
        </p:nvSpPr>
        <p:spPr>
          <a:xfrm>
            <a:off x="914399" y="2922179"/>
            <a:ext cx="6596744" cy="16253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Incident:</a:t>
            </a:r>
            <a:r>
              <a:rPr lang="en-US" sz="1600" dirty="0"/>
              <a:t> API latency increased from 200ms (P95) to 2,000ms (P95)  </a:t>
            </a:r>
          </a:p>
          <a:p>
            <a:r>
              <a:rPr lang="en-US" sz="1600" b="1" dirty="0"/>
              <a:t>Impact:</a:t>
            </a:r>
            <a:r>
              <a:rPr lang="en-US" sz="1600" dirty="0"/>
              <a:t> 250 users experienced slow page loads, 35% error rate  </a:t>
            </a:r>
          </a:p>
          <a:p>
            <a:r>
              <a:rPr lang="en-US" sz="1600" b="1" dirty="0"/>
              <a:t>Duration:</a:t>
            </a:r>
            <a:r>
              <a:rPr lang="en-US" sz="1600" dirty="0"/>
              <a:t> 60 minutes (17:00-18:00 UTC, Aug 14, 2024)  </a:t>
            </a:r>
          </a:p>
          <a:p>
            <a:r>
              <a:rPr lang="en-US" sz="1600" b="1" dirty="0"/>
              <a:t>Root Cause:</a:t>
            </a:r>
            <a:r>
              <a:rPr lang="en-US" sz="1600" dirty="0"/>
              <a:t>  Unexpected traffic/application workload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6FFCD-0952-9C77-DAB2-77BA85CC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97" y="2570292"/>
            <a:ext cx="2817268" cy="17174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7949CE-496C-34A4-1419-CE703C5FB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557" y="4547507"/>
            <a:ext cx="9154886" cy="206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562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lIns="0" anchor="t" anchorCtr="0">
            <a:normAutofit/>
          </a:bodyPr>
          <a:lstStyle/>
          <a:p>
            <a:r>
              <a:rPr lang="en-US" dirty="0"/>
              <a:t>Learnings &amp; Improvements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37CF55D-AEE3-0296-FC3B-32903D1BC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17920" y="1919235"/>
            <a:ext cx="5029200" cy="3932925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533F08F0-0CCF-4BDF-AA6F-301076420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69E57DC2-970A-4B3E-BB1C-7A09969E49DF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Learnings </a:t>
            </a:r>
          </a:p>
          <a:p>
            <a:r>
              <a:rPr lang="en-US" dirty="0"/>
              <a:t>Create logs with sufficient data and identified to track relevant information for troubleshooting. </a:t>
            </a:r>
          </a:p>
          <a:p>
            <a:r>
              <a:rPr lang="en-US" dirty="0"/>
              <a:t>Filter log info to monitor the server and create alerts to perform actions immediately.</a:t>
            </a:r>
          </a:p>
          <a:p>
            <a:r>
              <a:rPr lang="en-US" dirty="0"/>
              <a:t>Functionality of a widget, how it is populated, sample frequency and display type.</a:t>
            </a:r>
          </a:p>
          <a:p>
            <a:r>
              <a:rPr lang="en-US" dirty="0"/>
              <a:t>Use of RED/USE Methodology to find the root cause.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Improvements</a:t>
            </a:r>
          </a:p>
          <a:p>
            <a:r>
              <a:rPr lang="en-US" dirty="0"/>
              <a:t>Redesign logging of cart requests to get proper values for active carts to be displayed in the dashboard.</a:t>
            </a:r>
          </a:p>
          <a:p>
            <a:r>
              <a:rPr lang="en-US" dirty="0"/>
              <a:t>Enable duration metric to be filtered in the log insights. </a:t>
            </a:r>
          </a:p>
          <a:p>
            <a:r>
              <a:rPr lang="en-US" dirty="0"/>
              <a:t>Increase the number of business metrics and eventually create a dashboard for business metrics</a:t>
            </a:r>
          </a:p>
          <a:p>
            <a:r>
              <a:rPr lang="en-US" dirty="0"/>
              <a:t>Add cart storage using DynamoDB or another datastore.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121</TotalTime>
  <Words>336</Words>
  <Application>Microsoft Office PowerPoint</Application>
  <PresentationFormat>Widescreen</PresentationFormat>
  <Paragraphs>82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等线</vt:lpstr>
      <vt:lpstr>Abadi</vt:lpstr>
      <vt:lpstr>Arial</vt:lpstr>
      <vt:lpstr>Calibri</vt:lpstr>
      <vt:lpstr>Posterama</vt:lpstr>
      <vt:lpstr>Posterama Text SemiBold</vt:lpstr>
      <vt:lpstr>Custom</vt:lpstr>
      <vt:lpstr>Instrumented &amp; Monitored Cloud Service</vt:lpstr>
      <vt:lpstr>Agenda </vt:lpstr>
      <vt:lpstr>Architecture &amp; Instrumentation</vt:lpstr>
      <vt:lpstr>Architecture</vt:lpstr>
      <vt:lpstr>Instrumentation</vt:lpstr>
      <vt:lpstr>Alerting System</vt:lpstr>
      <vt:lpstr>Live Demo</vt:lpstr>
      <vt:lpstr>Incidence Summary &amp; Solution</vt:lpstr>
      <vt:lpstr>Learnings &amp; Improvements</vt:lpstr>
      <vt:lpstr>PowerPoint Presentation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10</cp:revision>
  <dcterms:created xsi:type="dcterms:W3CDTF">2026-07-25T15:37:27Z</dcterms:created>
  <dcterms:modified xsi:type="dcterms:W3CDTF">2026-08-17T07:52:06Z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