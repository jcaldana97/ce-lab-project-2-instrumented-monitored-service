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2" r:id="rId5"/>
    <p:sldId id="299" r:id="rId6"/>
    <p:sldId id="297" r:id="rId7"/>
    <p:sldId id="261" r:id="rId8"/>
    <p:sldId id="301" r:id="rId9"/>
    <p:sldId id="312" r:id="rId10"/>
    <p:sldId id="310" r:id="rId11"/>
    <p:sldId id="313" r:id="rId12"/>
    <p:sldId id="308" r:id="rId13"/>
    <p:sldId id="309" r:id="rId14"/>
    <p:sldId id="311" r:id="rId15"/>
    <p:sldId id="28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839" autoAdjust="0"/>
  </p:normalViewPr>
  <p:slideViewPr>
    <p:cSldViewPr snapToGrid="0" showGuides="1">
      <p:cViewPr varScale="1">
        <p:scale>
          <a:sx n="95" d="100"/>
          <a:sy n="95" d="100"/>
        </p:scale>
        <p:origin x="114" y="930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E773-CF0A-131A-8BAA-2490120B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28F81-509F-7109-6486-351AEA8A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F4146-ED39-39E1-2E15-F69F396F2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D290-8C6F-F645-1867-694962F36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55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358284" cy="274320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Instrumented &amp; Monitored Cloud Service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C0CA6A3-5752-AD04-9C71-D3E8462A5932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34777" r="32444"/>
          <a:stretch>
            <a:fillRect/>
          </a:stretch>
        </p:blipFill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>
            <a:normAutofit/>
          </a:bodyPr>
          <a:lstStyle/>
          <a:p>
            <a:r>
              <a:rPr lang="en-US" dirty="0"/>
              <a:t>Julio Cesar Aldana Almanza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014127" y="3429000"/>
            <a:ext cx="3855236" cy="2378075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Architecture &amp; Instrumentation</a:t>
            </a:r>
          </a:p>
          <a:p>
            <a:r>
              <a:rPr lang="en-US" dirty="0"/>
              <a:t>Alerting system</a:t>
            </a:r>
          </a:p>
          <a:p>
            <a:r>
              <a:rPr lang="en-US" dirty="0"/>
              <a:t>Live Demo</a:t>
            </a:r>
          </a:p>
          <a:p>
            <a:r>
              <a:rPr lang="en-US" dirty="0"/>
              <a:t>Incidence Response</a:t>
            </a:r>
          </a:p>
          <a:p>
            <a:r>
              <a:rPr lang="en-US" dirty="0"/>
              <a:t>Learnings &amp;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Architecture &amp; Instrumentation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Instrumented &amp; Monitored Cloud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4572000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21740B-EFB3-51C4-6453-7625939F6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8498" y="2368632"/>
            <a:ext cx="7504767" cy="371932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BDA2C-59D8-AF21-6828-2344A63AB14B}"/>
              </a:ext>
            </a:extLst>
          </p:cNvPr>
          <p:cNvSpPr txBox="1">
            <a:spLocks/>
          </p:cNvSpPr>
          <p:nvPr/>
        </p:nvSpPr>
        <p:spPr>
          <a:xfrm>
            <a:off x="1066800" y="2922179"/>
            <a:ext cx="2962590" cy="33832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Web Server</a:t>
            </a:r>
          </a:p>
          <a:p>
            <a:pPr lvl="1"/>
            <a:r>
              <a:rPr lang="en-US" dirty="0"/>
              <a:t>Logger Factory</a:t>
            </a:r>
          </a:p>
          <a:p>
            <a:pPr lvl="1"/>
            <a:r>
              <a:rPr lang="en-US" dirty="0"/>
              <a:t>application.log</a:t>
            </a:r>
          </a:p>
          <a:p>
            <a:r>
              <a:rPr lang="en-US" dirty="0"/>
              <a:t>Application Load Balancer</a:t>
            </a:r>
          </a:p>
          <a:p>
            <a:r>
              <a:rPr lang="en-US" dirty="0"/>
              <a:t>CloudWatch Agent</a:t>
            </a:r>
          </a:p>
          <a:p>
            <a:r>
              <a:rPr lang="en-US" dirty="0"/>
              <a:t>CloudWatch Alerts</a:t>
            </a:r>
          </a:p>
          <a:p>
            <a:r>
              <a:rPr lang="en-US" dirty="0"/>
              <a:t>CloudWatch Dashboard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3428-5DA9-9D27-C7B1-DAAE5CC0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6C88-2852-9248-FA45-F4B0884A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4572000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Instrumentation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8CF15-AA86-6BD2-3A83-8ED4DA24D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A73A249-A4AD-4883-6269-6F4A8FB47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116451"/>
              </p:ext>
            </p:extLst>
          </p:nvPr>
        </p:nvGraphicFramePr>
        <p:xfrm>
          <a:off x="5655354" y="2342859"/>
          <a:ext cx="5622246" cy="18542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811123">
                  <a:extLst>
                    <a:ext uri="{9D8B030D-6E8A-4147-A177-3AD203B41FA5}">
                      <a16:colId xmlns:a16="http://schemas.microsoft.com/office/drawing/2014/main" val="1392984329"/>
                    </a:ext>
                  </a:extLst>
                </a:gridCol>
                <a:gridCol w="2811123">
                  <a:extLst>
                    <a:ext uri="{9D8B030D-6E8A-4147-A177-3AD203B41FA5}">
                      <a16:colId xmlns:a16="http://schemas.microsoft.com/office/drawing/2014/main" val="3174544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Technical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77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Disk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Completed Carts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6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Application 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Abandoned Carts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16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Abandonment Cart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15847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77B788-BAEA-87CA-38FA-919CCC6089FF}"/>
              </a:ext>
            </a:extLst>
          </p:cNvPr>
          <p:cNvSpPr txBox="1">
            <a:spLocks/>
          </p:cNvSpPr>
          <p:nvPr/>
        </p:nvSpPr>
        <p:spPr>
          <a:xfrm>
            <a:off x="914400" y="2922179"/>
            <a:ext cx="2962590" cy="1609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Correlation ID</a:t>
            </a:r>
          </a:p>
          <a:p>
            <a:r>
              <a:rPr lang="en-US" dirty="0"/>
              <a:t>Cloud Watch Agent</a:t>
            </a:r>
          </a:p>
          <a:p>
            <a:r>
              <a:rPr lang="en-US" dirty="0"/>
              <a:t>Filter Logs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1A3FF5-A9F4-71C1-C207-92A14AB90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83" y="4547384"/>
            <a:ext cx="3248478" cy="1657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21040C-5457-D0E6-C77D-CDE359BA0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148" y="4947216"/>
            <a:ext cx="6071317" cy="98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2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37C64-44C9-C023-2074-B0B607C4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FAA3-D6EA-220F-B853-E49ABA44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3729"/>
            <a:ext cx="4572000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Alerting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0514-EFFD-F91C-FFB5-F26D3B9D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08DCDC-9280-08ED-8558-454E1CA3F62A}"/>
              </a:ext>
            </a:extLst>
          </p:cNvPr>
          <p:cNvSpPr txBox="1">
            <a:spLocks/>
          </p:cNvSpPr>
          <p:nvPr/>
        </p:nvSpPr>
        <p:spPr>
          <a:xfrm>
            <a:off x="914399" y="2922179"/>
            <a:ext cx="3282043" cy="366086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CPU Usage (Tiered Alerting)</a:t>
            </a:r>
          </a:p>
          <a:p>
            <a:pPr lvl="1"/>
            <a:r>
              <a:rPr lang="en-US" dirty="0"/>
              <a:t>Critical &gt;90% </a:t>
            </a:r>
          </a:p>
          <a:p>
            <a:pPr lvl="1"/>
            <a:r>
              <a:rPr lang="en-US" dirty="0"/>
              <a:t>Warning &gt;70%</a:t>
            </a:r>
          </a:p>
          <a:p>
            <a:r>
              <a:rPr lang="en-US" dirty="0"/>
              <a:t>Memory Utilization (Tiered Alerting)</a:t>
            </a:r>
          </a:p>
          <a:p>
            <a:pPr lvl="1"/>
            <a:r>
              <a:rPr lang="en-US" dirty="0"/>
              <a:t>Critical &gt;90% </a:t>
            </a:r>
          </a:p>
          <a:p>
            <a:pPr lvl="1"/>
            <a:r>
              <a:rPr lang="en-US" dirty="0"/>
              <a:t>Warning &gt;70%</a:t>
            </a:r>
          </a:p>
          <a:p>
            <a:r>
              <a:rPr lang="en-US" dirty="0"/>
              <a:t>Disk Space (Tiered Alerting)</a:t>
            </a:r>
          </a:p>
          <a:p>
            <a:pPr lvl="1"/>
            <a:r>
              <a:rPr lang="en-US" dirty="0"/>
              <a:t>Critical &gt;90% </a:t>
            </a:r>
          </a:p>
          <a:p>
            <a:pPr lvl="1"/>
            <a:r>
              <a:rPr lang="en-US" dirty="0"/>
              <a:t>Warning &gt;70%</a:t>
            </a:r>
          </a:p>
          <a:p>
            <a:r>
              <a:rPr lang="en-US" dirty="0"/>
              <a:t>Application Error Rate</a:t>
            </a:r>
          </a:p>
          <a:p>
            <a:r>
              <a:rPr lang="en-US" dirty="0"/>
              <a:t>Application Load Balancer Response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140B4-A7FF-8AC1-CAA3-127A169DA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963" y="2958348"/>
            <a:ext cx="7023798" cy="291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7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D6C-2B37-B9EF-D552-22C2B799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67A5-FA5B-84D0-78B4-35C2DF71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</p:spPr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AD50C07-1EA2-EBD3-7FBF-A7F33819D3B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19133" r="19133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031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314A-F35B-171C-D207-E58577A1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3FD3-BBFE-B646-CE7C-B36FC11AF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073729"/>
            <a:ext cx="8539843" cy="3796719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Incidence Summary &amp;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F898E-4D1D-6FCB-FD1E-5E8D6746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C9B19C-E253-01C2-0C94-8632EC6A4538}"/>
              </a:ext>
            </a:extLst>
          </p:cNvPr>
          <p:cNvSpPr txBox="1">
            <a:spLocks/>
          </p:cNvSpPr>
          <p:nvPr/>
        </p:nvSpPr>
        <p:spPr>
          <a:xfrm>
            <a:off x="914399" y="2922179"/>
            <a:ext cx="6596744" cy="16253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Incident:</a:t>
            </a:r>
            <a:r>
              <a:rPr lang="en-US" sz="1600" dirty="0"/>
              <a:t> API latency increased from 200ms (P95) to 2,000ms (P95)  </a:t>
            </a:r>
          </a:p>
          <a:p>
            <a:r>
              <a:rPr lang="en-US" sz="1600" b="1" dirty="0"/>
              <a:t>Impact:</a:t>
            </a:r>
            <a:r>
              <a:rPr lang="en-US" sz="1600" dirty="0"/>
              <a:t> 2,500 users experienced slow page loads, 35% error rate  </a:t>
            </a:r>
          </a:p>
          <a:p>
            <a:r>
              <a:rPr lang="en-US" sz="1600" b="1" dirty="0"/>
              <a:t>Duration:</a:t>
            </a:r>
            <a:r>
              <a:rPr lang="en-US" sz="1600" dirty="0"/>
              <a:t> 60 minutes (17:00-18:00 UTC, Aug 14, 2024)  </a:t>
            </a:r>
          </a:p>
          <a:p>
            <a:r>
              <a:rPr lang="en-US" sz="1600" b="1" dirty="0"/>
              <a:t>Root Cause:</a:t>
            </a:r>
            <a:r>
              <a:rPr lang="en-US" sz="1600" dirty="0"/>
              <a:t>  Unexpected traffic/application workload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6FFCD-0952-9C77-DAB2-77BA85CC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97" y="2570292"/>
            <a:ext cx="2817268" cy="1717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949CE-496C-34A4-1419-CE703C5F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557" y="4547507"/>
            <a:ext cx="9154886" cy="206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6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5B99-C486-0D5A-266B-63FD9A5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ADAA-FCDF-139A-FB6A-84908BAC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Learnings &amp; Improvements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37CF55D-AEE3-0296-FC3B-32903D1BC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7920" y="1919235"/>
            <a:ext cx="5029200" cy="3932925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33F08F0-0CCF-4BDF-AA6F-30107642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09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32CA-B4BF-DF3D-BF05-AC797E94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93B2DD-703A-2F23-608B-828164B71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5" y="1502229"/>
            <a:ext cx="3568271" cy="471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Learnings </a:t>
            </a:r>
          </a:p>
          <a:p>
            <a:r>
              <a:rPr lang="en-US" dirty="0"/>
              <a:t>Filter log info to monitor the server and create alerts to perform actions immediately.</a:t>
            </a:r>
          </a:p>
          <a:p>
            <a:r>
              <a:rPr lang="en-US" dirty="0"/>
              <a:t>Functionality of a widget, how it is populated, sample frequency and display type.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3E52F-6E5C-AC89-AD3D-9EDCF215CA4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69DEFAC5-91A3-28CF-C7CB-29DE8D6C77A6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AC965CD-806B-771E-A059-A6EAFDB30C8A}"/>
              </a:ext>
            </a:extLst>
          </p:cNvPr>
          <p:cNvSpPr txBox="1">
            <a:spLocks/>
          </p:cNvSpPr>
          <p:nvPr/>
        </p:nvSpPr>
        <p:spPr>
          <a:xfrm>
            <a:off x="7625898" y="1497719"/>
            <a:ext cx="3568271" cy="4715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09728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64592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9456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sz="2200" b="1" dirty="0"/>
              <a:t>Improvements</a:t>
            </a:r>
          </a:p>
          <a:p>
            <a:r>
              <a:rPr lang="en-US" dirty="0"/>
              <a:t>Redesign logging of cart requests to get proper values for active carts to be displayed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3512889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655F-266F-392E-3132-1F6021FF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7D0B-B013-B95B-C6DD-C9BCB763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04" y="2041071"/>
            <a:ext cx="1577591" cy="2775857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86596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Julio Cesar Aldana Almanza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{7BEB8980-4EAD-439C-A342-2CA3C506FA36}TF63aebcec-8e39-4664-940a-dd6c2f00c54d020a9832_win32-3cdd3ee32610</Template>
  <TotalTime>108</TotalTime>
  <Words>256</Words>
  <Application>Microsoft Office PowerPoint</Application>
  <PresentationFormat>Widescreen</PresentationFormat>
  <Paragraphs>69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Instrumented &amp; Monitored Cloud Service</vt:lpstr>
      <vt:lpstr>Agenda </vt:lpstr>
      <vt:lpstr>Architecture &amp; Instrumentation</vt:lpstr>
      <vt:lpstr>Architecture</vt:lpstr>
      <vt:lpstr>Instrumentation</vt:lpstr>
      <vt:lpstr>Alerting System</vt:lpstr>
      <vt:lpstr>Live Demo</vt:lpstr>
      <vt:lpstr>Incidence Summary &amp; Solution</vt:lpstr>
      <vt:lpstr>Learnings &amp; Improvements</vt:lpstr>
      <vt:lpstr>PowerPoint Presentation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ALEXIS ALDANA ALMANZA</dc:creator>
  <cp:lastModifiedBy>OSCAR ALEXIS ALDANA ALMANZA</cp:lastModifiedBy>
  <cp:revision>9</cp:revision>
  <dcterms:created xsi:type="dcterms:W3CDTF">2026-07-25T15:37:27Z</dcterms:created>
  <dcterms:modified xsi:type="dcterms:W3CDTF">2026-08-16T20:00:19Z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